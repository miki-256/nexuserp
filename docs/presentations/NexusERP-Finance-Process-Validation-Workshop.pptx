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PROCESS VALIDATION WORKSHOP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Accounting Lifecycle — Implementation Evidence Review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Controllers · CFOs · Auditors · Finance Managers · Professional Accountants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sales pitch — a process validation workshop based on the live product codebase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6217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 company: ABC Trading LLC  ·  Wholesale &amp; Retail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Agenda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validate together today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Finance Process Validation Workshop  ·  Confidential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55778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4173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143560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 &amp; scope — evidence-only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55778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2860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230428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finance architecture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55778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1546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317296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Trading LLC scenario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3840480"/>
            <a:ext cx="55778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023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71600" y="404164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setup &amp; master data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" y="4709160"/>
            <a:ext cx="55778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8920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491032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Purchasing → Inventory → AP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309360" y="1234440"/>
            <a:ext cx="55778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14173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223760" y="143560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/ POS / Formal invoicing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309360" y="2103120"/>
            <a:ext cx="55778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22860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223760" y="230428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 · Banking · Payroll · Assets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309360" y="2971800"/>
            <a:ext cx="55778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6492240" y="31546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223760" y="317296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· Close · Statements · Controls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309360" y="3840480"/>
            <a:ext cx="55778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6492240" y="4023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223760" y="404164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· Gaps · Review questions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Principles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deck was built — and what it is not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Finance Process Validation Workshop  ·  Confidential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143000"/>
            <a:ext cx="553212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508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63640" y="1143000"/>
            <a:ext cx="553212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50800" dir="162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1325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standard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1325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out of scope (not invented)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173736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process shown maps to a live screen, RPC, or migration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sources: ACCOUNTING_PROCESS.md, EFM / SCM / HCM wave docs, financial shell config, SQL migrations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journals use seeded COA codes (1000–6510)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POS → GL via sale_ledger_post_queue + process-queue cron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0" y="173736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quotations / sales orders / delivery notes as commercial docs — not implemented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→ invoice conversion — not implemented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adjustments / manufacturing → GL — stock only, no JE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IAS 7 full O/I/F cash-flow sections — simplified cash movement CF exists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PEPPOL / national e-invoice networks — stub only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Finance Overview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Double-entry GL hub with operational modules posting through controlled RPCs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Finance Process Validation Workshop  ·  Confidential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46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at a Glance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apps → operational tables → balanced journal entries → statements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Finance Process Validation Workshop  ·  Confidential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46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371600"/>
            <a:ext cx="2697480" cy="2377440"/>
          </a:xfrm>
          <a:prstGeom prst="roundRect">
            <a:avLst>
              <a:gd name="adj" fmla="val 3077"/>
            </a:avLst>
          </a:prstGeom>
          <a:solidFill>
            <a:srgbClr val="EBF5F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5544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Apps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2103120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· Invoicing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Purchasing · Expenses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Payroll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1752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337560" y="1371600"/>
            <a:ext cx="2697480" cy="2377440"/>
          </a:xfrm>
          <a:prstGeom prst="roundRect">
            <a:avLst>
              <a:gd name="adj" fmla="val 3077"/>
            </a:avLst>
          </a:prstGeom>
          <a:solidFill>
            <a:srgbClr val="E8F8F5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5544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Subledgers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74720" y="2103120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· invoices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vendor_bills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 · receivables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63640" y="1371600"/>
            <a:ext cx="2697480" cy="2377440"/>
          </a:xfrm>
          <a:prstGeom prst="roundRect">
            <a:avLst>
              <a:gd name="adj" fmla="val 3077"/>
            </a:avLst>
          </a:prstGeom>
          <a:solidFill>
            <a:srgbClr val="FEF9E7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5544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Ledger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0" y="2103120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journal_entries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journal_entry_lines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86968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189720" y="1371600"/>
            <a:ext cx="2697480" cy="2377440"/>
          </a:xfrm>
          <a:prstGeom prst="roundRect">
            <a:avLst>
              <a:gd name="adj" fmla="val 3077"/>
            </a:avLst>
          </a:prstGeom>
          <a:solidFill>
            <a:srgbClr val="F5EEF8"/>
          </a:solidFill>
          <a:ln/>
        </p:spPr>
      </p:sp>
      <p:sp>
        <p:nvSpPr>
          <p:cNvPr id="21" name="Text 19"/>
          <p:cNvSpPr/>
          <p:nvPr/>
        </p:nvSpPr>
        <p:spPr>
          <a:xfrm>
            <a:off x="9326880" y="15544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326880" y="2103120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 · P&amp;L · BS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 · Aging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0233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reporting modes: Operational (sales/expense rollups on /reports) vs GL mode (posted journal lines only — use for official books).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4663440"/>
            <a:ext cx="11247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financial writes go through SECURITY DEFINER RPCs — balanced journals only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shell: /financials with 28 tabs across Reporting, Ledger, Working Capital, Compliance, Planning, Platform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Map — What Posts to the GL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tenant apps and their accounting impact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Finance Process Validation Workshop  ·  Confidential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46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114300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103120"/>
                <a:gridCol w="64008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Route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Posts to GL?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/pos + /sales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(async)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complete_sale → queue → post_sale_to_ledger_internal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/invoicing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on post/pay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post_customer_invoice / pay_customer_invoice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/receivables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collect_customer_receivable (POS on-account)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/purchasing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on receive/pay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receive_purchase_order · pay_vendor_bill · payment runs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/expenses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record_expense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/hr Payroll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on post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post_payroll_run → Dr 6400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/financials Banking/Treasury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match; treasury transfers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/inventory · /manufacturing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JE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movements only (except PO receive)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/crm · /projects tasks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CRM pipeline / tasks — job cost is under Financials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Trading LLC — wholesale &amp; retail using NexusERP as implemented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Finance Process Validation Workshop  ·  Confidential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46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Trading LLC — Demo Company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continuous story for process validation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Finance Process Validation Workshop  ·  Confidential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46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143000"/>
            <a:ext cx="553212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508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63640" y="1143000"/>
            <a:ext cx="553212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50800" dir="162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1325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profile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1325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narrative arc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173736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Industry: Wholesale &amp; retail trading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 finished goods; stores in warehouses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Sells via POS (cash, card/mobile, on-account)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issues formal customer invoices on credit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 on credit from suppliers (PO → receive → bill)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salaries via HR payroll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OpEx; uses bank + cash + mobile money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VAT/sales tax on seeded Tax Payable (2100)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GL P&amp;L, Balance Sheet, Trial Balance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0" y="173736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Configure org, FY, COA, tax, users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Master data: customers, vendors, products, stores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Opening balances (wizard)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Buy 100 coffee bags @ $20 → receive → AP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Sell 20 bags @ $35 via POS → COGS + revenue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Invoice a wholesale customer; collect payment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Record rent expense; pay vendor; reconcile bank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Run payroll; depreciate an asset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Period-close preflight → statements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Setup &amp; Master Data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organization creation to opening balances — what NexusERP actually configures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Finance Process Validation Workshop  ·  Confidential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46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Setup Sequence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configuration (implemented capabilities)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Finance Process Validation Workshop  ·  Confidential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46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114300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200400"/>
                <a:gridCol w="56692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system does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Onboarding / Settings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Creates tenant org; memberships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Fiscal year / periods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/financials → Periods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ensure_fiscal_year · list_fiscal_periods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 currency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 settings + FX tab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Rates &amp; FX revaluation (Wave 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 setup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/financials → Tax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 codes; VAT liability report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 of Accounts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/financials → COA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ensure_default_accounts + hierarchy CRUD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 / registers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/stores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 locations (analytic dimensions on JE)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/inventory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Locations; stock — no JE on adjust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 / roles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/team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+ department roles; per-app grant/deny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Opening balances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JE wizard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import_opening_balances → GEN JE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Chart of Accounts (Seeded)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ensure_default_accounts — codes used throughout this workshop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Finance Process Validation Workshop  ·  Confidential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46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114300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1645920"/>
                <a:gridCol w="47548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on Hand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POS / expense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transfer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Money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M-Pesa / Telebirr etc.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Accounts Receivable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Invoices &amp; on-account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valuation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1500 / 1590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 / Accum. Dep.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assets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Accounts Payable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bills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 Payable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VAT / sales tax / payroll tax bucket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2300 / 2310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 Credit / Gift Cards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liabilities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 / 3900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/ 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Opening + close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 &amp; invoices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 cost of sales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6000–6400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OpEx / Salaries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Expenses &amp; payroll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Depreciation Exp.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 depreciation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 — Who / Where / Validation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· Vendors · Products · Inventory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Finance Process Validation Workshop  ·  Confidential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46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114300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926080"/>
                <a:gridCol w="2011680"/>
                <a:gridCol w="42976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 for accountants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/customers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/ AR clerk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On-account terms; used by POS &amp; invoicing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/purchasing → Vendors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Buyer / 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for PO &amp; bills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 / variants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/products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used for COGS &amp; PO receipt valuation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/products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 &amp; registers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/stores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 manager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 login; JE store dimension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Warehouses / stock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/inventory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 movements; GL only on PO receive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/hr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Payroll drivers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accounts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/financials → Banking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Treasury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Statement import &amp; match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65760" y="5074920"/>
            <a:ext cx="11430000" cy="1280160"/>
          </a:xfrm>
          <a:prstGeom prst="roundRect">
            <a:avLst>
              <a:gd name="adj" fmla="val 4286"/>
            </a:avLst>
          </a:prstGeom>
          <a:solidFill>
            <a:srgbClr val="FEF9E7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518464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TEAM REVIEW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5440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seeded COA sufficient for your entity, or do you require statutory local accounts?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inventory adjustments (cycle count) post to GL expense/inventory — currently they do not?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Purchasing &amp; Inventory Cycle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→ Goods receipt → Inventory + AP → Vendor payment → GL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Finance Process Validation Workshop  ·  Confidential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46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Purchase-to-Pay — Implemented Flow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Trading imports 100 coffee bags @ $20 = $2,000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Finance Process Validation Workshop  ·  Confidential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46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280160"/>
            <a:ext cx="182880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4173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Vendor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19659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/purchasing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0" y="1280160"/>
            <a:ext cx="182880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2377440" y="14173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377440" y="19659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create_purchase_order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GL yet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51960" y="1280160"/>
            <a:ext cx="1828800" cy="1828800"/>
          </a:xfrm>
          <a:prstGeom prst="roundRect">
            <a:avLst>
              <a:gd name="adj" fmla="val 3000"/>
            </a:avLst>
          </a:prstGeom>
          <a:solidFill>
            <a:srgbClr val="E8F8F5"/>
          </a:solidFill>
          <a:ln/>
        </p:spPr>
      </p:sp>
      <p:sp>
        <p:nvSpPr>
          <p:cNvPr id="15" name="Text 13"/>
          <p:cNvSpPr/>
          <p:nvPr/>
        </p:nvSpPr>
        <p:spPr>
          <a:xfrm>
            <a:off x="4343400" y="14173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Receive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43400" y="19659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↑ + Bill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JE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1280160"/>
            <a:ext cx="182880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14173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19659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bill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balance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83880" y="1280160"/>
            <a:ext cx="1828800" cy="1828800"/>
          </a:xfrm>
          <a:prstGeom prst="roundRect">
            <a:avLst>
              <a:gd name="adj" fmla="val 3000"/>
            </a:avLst>
          </a:prstGeom>
          <a:solidFill>
            <a:srgbClr val="E8F8F5"/>
          </a:solidFill>
          <a:ln/>
        </p:spPr>
      </p:sp>
      <p:sp>
        <p:nvSpPr>
          <p:cNvPr id="21" name="Text 19"/>
          <p:cNvSpPr/>
          <p:nvPr/>
        </p:nvSpPr>
        <p:spPr>
          <a:xfrm>
            <a:off x="8275320" y="14173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Pay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75320" y="19659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pay_vendor_bill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payment run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149840" y="1280160"/>
            <a:ext cx="182880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10241280" y="14173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GL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241280" y="19659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 journal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 / BS update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33375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implemented: MRP / purchase requisitions → convert to PO; standalone vendor bills; 3-way amount match (validate_vendor_bill_match); AP payment runs with SoD dual approval option.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069080"/>
          <a:ext cx="114300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200400"/>
                <a:gridCol w="3200400"/>
                <a:gridCol w="18288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Goods receipt (PO receive)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1200 Inventory $2,000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 AP $2,000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payment (bank)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 AP $2,000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1010 Bank $2,000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bill_payment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Cycle — Control Matrix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· Who · Screen · Validations · Impacts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Finance Process Validation Workshop  ·  Confidential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46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114300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828800"/>
                <a:gridCol w="3108960"/>
                <a:gridCol w="2011680"/>
                <a:gridCol w="22860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 / RPC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Purchasing · create_purchase_order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Receive 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 / Buyer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receive_purchase_order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qty &amp;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 Inv / Cr 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Standalone bill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create/post_vendor_bill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 Exp(~6200)/Cr 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3-way match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validate_vendor_bill_match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 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 bill / run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 / Finance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pay_vendor_bill · payment runs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 AP / Cr cash|bank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65760" y="5074920"/>
            <a:ext cx="11430000" cy="1280160"/>
          </a:xfrm>
          <a:prstGeom prst="roundRect">
            <a:avLst>
              <a:gd name="adj" fmla="val 4286"/>
            </a:avLst>
          </a:prstGeom>
          <a:solidFill>
            <a:srgbClr val="FEF9E7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518464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TEAM REVIEW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5440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GR/IR clearing required for your audit model, or is direct Dr Inventory / Cr AP on receive acceptable?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PO creation require approval workflow beyond app permissions?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amount-only match sufficient vs quantity/price variance workflows?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Reality Check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moves stock vs what moves the ledger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Finance Process Validation Workshop  ·  Confidential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46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143000"/>
            <a:ext cx="553212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508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63640" y="1143000"/>
            <a:ext cx="553212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50800" dir="162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1325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movements (no automatic JE)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1325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movements with GL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173736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adjust / cycle count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Inter-warehouse transfer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 pick → pack → ship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complete (consume + FG)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product receive (products app)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update inventory_levels / movements only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0" y="173736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receive → Dr 1200 / Cr 2000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sale → Cr 1200 + Dr 5000 COGS (async)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void/return → inventory restore JEs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Accountant implication: cycle-count variance is operational until you post a manual JE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Valuation: average/cost on variants used for COGS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POS &amp; Receivables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checkout and formal AR — both post to the same GL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Finance Process Validation Workshop  ·  Confidential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46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Order-to-Cash — What Exists vs Classic ERP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scope for accountants evaluating OTC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Finance Process Validation Workshop  ·  Confidential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46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143000"/>
            <a:ext cx="553212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508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63640" y="1143000"/>
            <a:ext cx="553212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50800" dir="162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1325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in NexusERP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1325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implemented (do not demo as present)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173736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checkout (/pos) with staff PIN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mix: cash, bank, mobile, on-account, store credit, gift card, loyalty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register analytics (/sales)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invoices (/invoicing) draft → post → pay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notes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statements &amp; AR collections tools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on-account collection (/receivables)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Refunds / voids / partial returns (/refunds)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0" y="173736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quotation document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order document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delivery note as billing source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from delivery / SO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opportunity → invoice conversion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self-service portal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Example — Sell 20 Coffee Bags @ $35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$20 → Revenue $700 · COGS $400 · Gross profit $300 (+ tax if configured)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Finance Process Validation Workshop  ·  Confidential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46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234440"/>
            <a:ext cx="15544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3716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available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11680" y="1234440"/>
            <a:ext cx="15544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2057400" y="13716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sale + tender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03320" y="1234440"/>
            <a:ext cx="15544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3749040" y="13716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↓ 20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94960" y="1234440"/>
            <a:ext cx="15544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5440680" y="13716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GL post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86600" y="1234440"/>
            <a:ext cx="15544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0" y="13716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process-queue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778240" y="1234440"/>
            <a:ext cx="15544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8823960" y="13716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 journal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469880" y="1234440"/>
            <a:ext cx="15544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10515600" y="13716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/ TB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286000"/>
          <a:ext cx="1143000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3200400"/>
                <a:gridCol w="32004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/ Bank / Mobile / AR (by tender)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700 + tax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Revenue 4000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 Payable 2100 (if taxed)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COGS 5000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 1200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457200" y="50292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Screen: /pos · Who: Cashier · Audit: sale + journal_entry audit · Notification: configurable via Communications rules · Dashboard: sales KPIs &amp; executive financials after post.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365760" y="5623560"/>
            <a:ext cx="11430000" cy="1280160"/>
          </a:xfrm>
          <a:prstGeom prst="roundRect">
            <a:avLst>
              <a:gd name="adj" fmla="val 4286"/>
            </a:avLst>
          </a:prstGeom>
          <a:solidFill>
            <a:srgbClr val="FEF9E7"/>
          </a:solidFill>
          <a:ln/>
        </p:spPr>
      </p:sp>
      <p:sp>
        <p:nvSpPr>
          <p:cNvPr id="25" name="Text 22"/>
          <p:cNvSpPr/>
          <p:nvPr/>
        </p:nvSpPr>
        <p:spPr>
          <a:xfrm>
            <a:off x="548640" y="573328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TEAM REVIEW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48640" y="5989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async posting (queue + cron) acceptable, or must sale and GL be synchronous for your controls?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payment-method → account mapping matches your cash office structure.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Invoicing Cycle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/invoicing — credit sales for wholesale customers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Finance Process Validation Workshop  ·  Confidential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46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114300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657600"/>
                <a:gridCol w="45720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RPC / Screen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 Impact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draft invoice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create_customer_invoice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invoice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post_customer_invoice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 1100 AR · Cr 4000 Rev · Cr 2100 Tax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payment (full/partial)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pay_customer_invoice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 cash/bank/mobile · Cr 1100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note post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post_customer_credit_note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 Rev/Tax · Cr AR / credit / cash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statement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Statements panel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— open balance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Collections / dunning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 collections tools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Policies + open invoices (Wave 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65760" y="5074920"/>
            <a:ext cx="11430000" cy="1280160"/>
          </a:xfrm>
          <a:prstGeom prst="roundRect">
            <a:avLst>
              <a:gd name="adj" fmla="val 4286"/>
            </a:avLst>
          </a:prstGeom>
          <a:solidFill>
            <a:srgbClr val="FEF9E7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518464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TEAM REVIEW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5440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invoice post require dual approval for amounts above a threshold? (JE dual approval exists under Financial Security — confirm org policy.)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tax on invoice lines using tax codes adequate for your jurisdiction?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 → GL Account Map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_payment_method_account_code — hard-wired to seeded COA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Finance Process Validation Workshop  ·  Confidential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46</a:t>
            </a:r>
            <a:endParaRPr lang="en-US" sz="1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114300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200400"/>
                <a:gridCol w="50292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method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 sheet meaning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 Cash on Hand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Till / petty cash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bank_transfer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1010 Bank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bank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mobile_money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1020 Mobile Money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Wallet float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on_account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1100 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receivable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store_credit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2300 Store Credit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liability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gift_card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2310 Gift Cards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Unredeemed liability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loyalty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2300 Store Credit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Loyalty liability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 · Banking · Payroll · Fixed Assets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cycles that also hit the general ledger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Finance Process Validation Workshop  ·  Confidential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46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Cycle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/expenses — record_expense posts immediately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Finance Process Validation Workshop  ·  Confidential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46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143000"/>
            <a:ext cx="553212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508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63640" y="1143000"/>
            <a:ext cx="553212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50800" dir="162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1325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1325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example — Office rent $1,200 bank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173736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capture OpEx (rent, utilities, misc)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Accountant / manager with expenses access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amount, payment method, category/account, memo, date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Approval: app permission gated (no separate expense-approval workflow object beyond access)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JE: Dr category or 6000 · Cr 1000/1010/1020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Reports: expense register + GL P&amp;L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0" y="173736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6100 Rent (or 6000) ........ 1,200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1010 Bank ................. 1,200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Inventory: none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Tax: none unless coded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Audit: expense row + journal entry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do you need multi-step expense approval / employee claims?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&amp; Treasury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/financials → Banking + Treasury tabs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Finance Process Validation Workshop  ·  Confidential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46</a:t>
            </a:r>
            <a:endParaRPr lang="en-US" sz="1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114300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572000"/>
                <a:gridCol w="39319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 impact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accounts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/ upsert bank accounts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 / GL link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Statement import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import_bank_statement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Staging for match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 / auto-match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statement lines to JEs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Matching — not a new JE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Treasury cash position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Liquidity dashboard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Liquidity forecast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 outlook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Treasury transfer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create_treasury_transfer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 dest bank GL · Cr source bank GL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65760" y="5074920"/>
            <a:ext cx="11430000" cy="1280160"/>
          </a:xfrm>
          <a:prstGeom prst="roundRect">
            <a:avLst>
              <a:gd name="adj" fmla="val 4286"/>
            </a:avLst>
          </a:prstGeom>
          <a:solidFill>
            <a:srgbClr val="FEF9E7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518464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TEAM REVIEW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5440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bank reconciliation matching sufficient without forced period lock on unmatched items?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treasury transfers require dual authorization in your policy? (SoD tools available under Financial Security.)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Cycle (HCM)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/hr → Payroll — posts on post_payroll_run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Finance Process Validation Workshop  ·  Confidential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46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234440"/>
            <a:ext cx="18288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" y="14173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Employee master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331720" y="1234440"/>
            <a:ext cx="18288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2404872" y="14173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Draft payroll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0" y="1234440"/>
            <a:ext cx="18288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370832" y="14173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Submit / approve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1234440"/>
            <a:ext cx="18288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336792" y="14173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Post run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0" y="1234440"/>
            <a:ext cx="18288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8302752" y="14173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SALARIES JE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195560" y="1234440"/>
            <a:ext cx="18288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0268712" y="14173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Pay net (ops)</a:t>
            </a:r>
            <a:endParaRPr lang="en-US" sz="1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331720"/>
          <a:ext cx="1143000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3200400"/>
                <a:gridCol w="32004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Posting (simplified)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salaries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6400 Salaries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 + deductions (combined bucket)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2100 Tax Payable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pay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/ Bank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457200" y="42976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to validate: payroll tax and other deductions currently credit the same 2100 Tax Payable bucket — many entities need separate payroll liability accounts.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365760" y="5074920"/>
            <a:ext cx="11430000" cy="1280160"/>
          </a:xfrm>
          <a:prstGeom prst="roundRect">
            <a:avLst>
              <a:gd name="adj" fmla="val 4286"/>
            </a:avLst>
          </a:prstGeom>
          <a:solidFill>
            <a:srgbClr val="FEF9E7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518464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TEAM REVIEW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48640" y="5440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separate employer tax / social liability accounts required for your statutory reporting?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payroll approval chain in HCM adequate vs financial dual approval?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Assets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/financials → Assets — register, depreciate, dispose (+ multi-book)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Finance Process Validation Workshop  ·  Confidential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46</a:t>
            </a:r>
            <a:endParaRPr lang="en-US" sz="1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114300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926080"/>
                <a:gridCol w="2926080"/>
                <a:gridCol w="23774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 asset (buy)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1500 Fixed Assets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/ Bank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Acquisition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Depreciation batch (GL book)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6510 Dep. Expense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1590 Accum. Dep.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books with posts_to_gl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 book depreciation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 book; posts_to_gl=false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Proceeds + Accum.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 cost ± P&amp;L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Gain/loss via expense netting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65760" y="5074920"/>
            <a:ext cx="11430000" cy="1280160"/>
          </a:xfrm>
          <a:prstGeom prst="roundRect">
            <a:avLst>
              <a:gd name="adj" fmla="val 4286"/>
            </a:avLst>
          </a:prstGeom>
          <a:solidFill>
            <a:srgbClr val="FEF9E7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518464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TEAM REVIEW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5440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depreciation methods/lives match policy before first production run_depreciation_batch.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multi-book (FIN vs TAX) sufficient for local statutory vs management books?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· Close · Statements · Controls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Compliance, period close, financial statements, security &amp; audit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Finance Process Validation Workshop  ·  Confidential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46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Management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/financials → Tax — codes, VAT liability, returns, withholding; e-invoice stub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Finance Process Validation Workshop  ·  Confidential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46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143000"/>
            <a:ext cx="553212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508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63640" y="1143000"/>
            <a:ext cx="553212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50800" dir="162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1325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1325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with your tax lead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173736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codes (output / input / withholding)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 liability report (output vs input)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return periods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Withholding tax rules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E-invoice documents list (internal stub auto-accept)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invoice tax credited to 2100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0" y="173736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Jurisdiction-specific return forms — configure, not out-of-the-box filing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PEPPOL / ERCA / national clearance — not live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AR/AP document-currency FX on settlement — deferred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2100 single Tax Payable account too coarse?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Month-End Closing — Wave 4 Orchestration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/financials → Periods — checklist, preflight, lock, close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Finance Process Validation Workshop  ·  Confidential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46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234440"/>
            <a:ext cx="187452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393192" y="14173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Preflight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3192" y="187452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run_period_close_preflight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blockers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0" y="1234440"/>
            <a:ext cx="187452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2359152" y="14173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Unposted sales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359152" y="187452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/ post batch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51960" y="1234440"/>
            <a:ext cx="187452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325112" y="14173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Subledger lock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25112" y="187452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lock_period_subledgers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1234440"/>
            <a:ext cx="187452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291072" y="14173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/ AP / AR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91072" y="187452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review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83880" y="1234440"/>
            <a:ext cx="187452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8257032" y="14173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Depreciation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57032" y="187452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run_depreciation_batch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149840" y="1234440"/>
            <a:ext cx="187452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10222992" y="14173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period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222992" y="187452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→ 3900 RE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2926080"/>
            <a:ext cx="11247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zeros period income/expense into 3900 Retained Earnings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Reopen supported (Wave 0) with cleanup of close JE when policy allows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close production periods during UAT unless intentionally testing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 statement exists but is cash-movement oriented — not full IAS 7 O/I/F presentation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" y="5074920"/>
            <a:ext cx="11430000" cy="1280160"/>
          </a:xfrm>
          <a:prstGeom prst="roundRect">
            <a:avLst>
              <a:gd name="adj" fmla="val 4286"/>
            </a:avLst>
          </a:prstGeom>
          <a:solidFill>
            <a:srgbClr val="FEF9E7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518464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TEAM REVIEW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5440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close checklist tasks should be mandatory vs waivable in your control framework?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retained-earnings close timing aligned with your statutory calendar?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Statements &amp; Dashboards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accountants look after posting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Finance Process Validation Workshop  ·  Confidential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46</a:t>
            </a:r>
            <a:endParaRPr lang="en-US" sz="1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114300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657600"/>
                <a:gridCol w="45720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of truth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Trial Balance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/financials → Trial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Posted JE lines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 &amp; Loss (GL mode)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/financials → P&amp;L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Posted JE lines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 Sheet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/financials → Balance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Posted JE lines + current earnings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Flow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/financials → Cash flow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accounts movement (simplified)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 / AP Aging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/financials → Aging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invoices / bills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Executive dashboard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/financials → Executive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scorecard + drill-down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registers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/reports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Sales/expense rollups (ops mode)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 from finance tabs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statements not in accounting UI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Approvals &amp; Audit Trail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+ Financial Security (Wave 14) + audit logs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Finance Process Validation Workshop  ·  Confidential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46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143000"/>
            <a:ext cx="553212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508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63640" y="1143000"/>
            <a:ext cx="553212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50800" dir="162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1325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implemented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1325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questions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173736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App-level permissions (/team) — e.g. cashier cannot open Financials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drafts: approve / reject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dual approval for journals (amount threshold)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 conflict rules + pending approval queue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payment-run dual approval option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entry audit log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audit trail on /reports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Communications audit for notification events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0" y="173736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your SoD matrix to system SoD rules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cashier vs manager matrix in UAT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which events must notify Finance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evidence: JE attachments supported on enterprise JE lifecycle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auditors: export CSV + JE audit for sample testing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for the Accounting Team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 · journal catalog · strengths · gaps · questions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Finance Process Validation Workshop  ·  Confidential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46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Business Flow (ABC Trading)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implemented — retail/wholesale hybrid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Finance Process Validation Workshop  ·  Confidential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46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→ Masters → Opening Balances → PO→Receive→AP→Pay → POS Sale→COGS→Cash → Invoice→AR→Collect → Expense → Bank Rec → Payroll → FA Dep → Period Close → TB/P&amp;L/BS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11247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paths: retail revenue primarily via POS; wholesale via formal invoices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quantity tracked broadly; inventory GL valuation driven by PO receive + COGS on sale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paths converge on journal_entry_lines → Trial Balance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Process-queue cron is part of the control environment for POS posting freshness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5074920"/>
            <a:ext cx="11430000" cy="1280160"/>
          </a:xfrm>
          <a:prstGeom prst="roundRect">
            <a:avLst>
              <a:gd name="adj" fmla="val 4286"/>
            </a:avLst>
          </a:prstGeom>
          <a:solidFill>
            <a:srgbClr val="FEF9E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518464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TEAM REVIEW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5440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retail-centric document model match how your entity actually sells?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require classic SO/DN billing, that is a gap — not a hidden feature.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Journal Catalog (Evidence)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types accountants will see in the ledger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Finance Process Validation Workshop  ·  Confidential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46</a:t>
            </a:r>
            <a:endParaRPr lang="en-US" sz="1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114300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5029200"/>
                <a:gridCol w="32004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Dr /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Cash/AR · Rev+Tax · COGS/Inv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sale_void / sale_return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Mirror / partial reverse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 / invoice_payment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AR/Rev · Cash/AR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credit_note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Rev/Tax · AR/credit/cash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 (PO receive)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 / 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vendor_bill / bill_payment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Exp/AP · AP/Cash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OpEx / Cash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payroll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Salaries / Tax+Cash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opening_balance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 import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period_close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P&amp;L wipe → 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FX reval / treasury / FA / 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wave logic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FX/BNK/DEP/IC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Pack — Coffee Bags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for live walkthrough on preprod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Finance Process Validation Workshop  ·  Confidential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46</a:t>
            </a:r>
            <a:endParaRPr lang="en-US" sz="10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114300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200400"/>
                <a:gridCol w="3200400"/>
                <a:gridCol w="43891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event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 / Amount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GL highlight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 + receive coffee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@ $20 = $2,000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 1200 / Cr 2000 $2,000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 supplier (bank)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 2000 / Cr 1010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 sell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@ $35 = $700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 Cash $700 · Cr 4000 $700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COGS on sale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@ $20 = $400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 5000 $400 · Cr 1200 $400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 remaining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bags @ $20 = $1,600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 Inventory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profit (ex-tax)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P&amp;L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Wholesale invoice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e.g. $1,000 + tax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 1100 · Cr 4000/2100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 invoice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 1010 · Cr 1100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Strengths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professional finance teams typically value here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Finance Process Validation Workshop  ·  Confidential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46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1124712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double-entry GL with balanced JE enforcement in SECURITY DEFINER RPCs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automatic posting from POS, AR, AP, expenses, payroll, FA, treasury, FX, IC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close orchestration with preflight — reduces “close by spreadsheet” risk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Subledger aging + formal invoicing + POS on-account coexist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shell consolidates controller workbench (28 tabs) instead of scattered menus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 / dual approval / JE audit — control language auditors understand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POS posting with queue depth health — operational resilience under load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trail documented in ACCOUNTING_PROCESS.md + wave docs for training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 (Do Not Over-Claim)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gaps vs SAP/Oracle-class OTC &amp; statutory packaging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Finance Process Validation Workshop  ·  Confidential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46</a:t>
            </a:r>
            <a:endParaRPr lang="en-US" sz="10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1143000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64008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 on validation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quotation / sales order / DN commercial chain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OTC demo must use POS + invoicing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 adjust / manufacturing / ship without JE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≠ books unless manual JE or PO/sale path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flow not full IAS 7 O/I/F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TB/P&amp;L/BS for statutory narrative; CF is supportive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E-invoicing network stub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claim live clearance connectivity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AR/AP multi-currency documents deferred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FX is rates + unrealized reval + FC journals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Payroll liabilities share 2100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need COA extension for statutory payroll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financial statements not in finance UI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 export + external packaging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Allocation rules RPC without dedicated UI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 allocations limited in UI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for the Accounting Team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page to capture decisions during the workshop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Finance Process Validation Workshop  ·  Confidential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46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1124712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Dr Inventory / Cr AP on goods receipt acceptable, or do you require GR/IR clearing?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POS post synchronously, or is queue + cron within N minutes acceptable?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payment methods and GL accounts are mandatory for your cash office?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we extend COA for payroll liabilities, VAT input/output split, and clearing accounts?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SoD conflicts are blocking vs warning?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official reporting pack: GL P&amp;L + BS + TB only, or also ops dashboards?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inventory cycle counts required to post GL in phase 2?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period-close checklist sign-off each month?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local GAAP / IFRS presentation adjustments needed beyond system statements?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Improvements (Backlog Hypotheses)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only after accounting team feedback — not commitments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Finance Process Validation Workshop  ·  Confidential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46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1124712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— Optional GL posting on inventory adjustment / cycle-count variance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— Separate payroll liability accounts (tax, pension, net pay clearing)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— Harden bank rec period controls (unmatched item policy)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— Classic OTC documents if wholesale sales-order billing is required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— IAS 7 cash-flow classification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— PDF management pack for board reporting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— Live e-invoicing connector per jurisdiction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— Allocation rules UI; dedicated payables app shell</a:t>
            </a:r>
            <a:endParaRPr lang="en-US" sz="1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Close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this deck after today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 ·  Finance Process Validation Workshop  ·  Confidential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46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143000"/>
            <a:ext cx="553212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508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63640" y="1143000"/>
            <a:ext cx="553212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50800" dir="162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1325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outcome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1325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173736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Accountants have seen every major posting path that exists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are labeled — not hidden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coffee-bag example can be repeated on preprod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questions become UAT / policy backlog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sources remain in docs/ and migrations/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0" y="173736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pilot UAT checklist (docs/ENTERPRISE-QA.md)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COA extensions for the entity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cron + unposted sales = 0 before first close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period-close preflight on a non-prod period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follow-up on P1 improvements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945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NexusERP Finance Process Validation Workshop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· Double-entry · Ready for controller challenge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5029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references: docs/ACCOUNTING_PROCESS.md · docs/EFM_ROADMAP.md · docs/ENTERPRISE-QA.md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NexusERP Finance Process Validation Workshop</dc:title>
  <dc:subject>Evidence-based accounting process walkthrough for professional accountants</dc:subject>
  <dc:creator>NexusERP Finance Transformation</dc:creator>
  <cp:lastModifiedBy>NexusERP Finance Transformation</cp:lastModifiedBy>
  <cp:revision>1</cp:revision>
  <dcterms:created xsi:type="dcterms:W3CDTF">2026-07-12T11:12:48Z</dcterms:created>
  <dcterms:modified xsi:type="dcterms:W3CDTF">2026-07-12T11:12:48Z</dcterms:modified>
</cp:coreProperties>
</file>